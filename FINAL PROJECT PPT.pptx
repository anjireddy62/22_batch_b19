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7" r:id="rId3"/>
    <p:sldId id="288" r:id="rId4"/>
    <p:sldId id="289" r:id="rId5"/>
    <p:sldId id="290" r:id="rId6"/>
    <p:sldId id="291" r:id="rId7"/>
    <p:sldId id="299" r:id="rId8"/>
    <p:sldId id="293" r:id="rId9"/>
    <p:sldId id="294" r:id="rId10"/>
    <p:sldId id="295" r:id="rId11"/>
    <p:sldId id="296" r:id="rId12"/>
    <p:sldId id="285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898" userDrawn="1">
          <p15:clr>
            <a:srgbClr val="A4A3A4"/>
          </p15:clr>
        </p15:guide>
        <p15:guide id="6" orient="horz" pos="0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43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53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4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898"/>
        <p:guide orient="horz"/>
        <p:guide orient="horz" pos="4008"/>
        <p:guide orient="horz" pos="2343"/>
        <p:guide pos="6696"/>
        <p:guide pos="2136"/>
        <p:guide pos="2760"/>
        <p:guide pos="3288"/>
        <p:guide pos="4053"/>
        <p:guide pos="4392"/>
        <p:guide pos="4944"/>
        <p:guide pos="5544"/>
        <p:guide pos="6072"/>
        <p:guide orient="horz" pos="2448"/>
        <p:guide pos="5256"/>
        <p:guide pos="7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microsoft.com/office/2018/10/relationships/authors" Target="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6" name="Freeform: Shape 5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5" name="Freeform: Shape 4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8" name="Freeform: Shape 7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3" name="Freeform: Shape 2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1413164"/>
            <a:ext cx="10123055" cy="384463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2584" y="386092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/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/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/>
            <p:cNvSpPr/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/>
            <p:cNvSpPr/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/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/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/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/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/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/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/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/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/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/>
          <p:cNvSpPr/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/>
          </a:p>
        </p:txBody>
      </p:sp>
      <p:sp>
        <p:nvSpPr>
          <p:cNvPr id="31" name="Freeform 70"/>
          <p:cNvSpPr/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/>
          </a:p>
        </p:txBody>
      </p:sp>
      <p:sp>
        <p:nvSpPr>
          <p:cNvPr id="33" name="Image 4"/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1" name="Image 0"/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/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/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2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/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/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/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/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/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9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23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210" indent="-283210">
              <a:spcBef>
                <a:spcPts val="1000"/>
              </a:spcBef>
              <a:defRPr sz="1800"/>
            </a:lvl2pPr>
            <a:lvl3pPr marL="283210" indent="-283210">
              <a:spcBef>
                <a:spcPts val="1000"/>
              </a:spcBef>
              <a:defRPr sz="1800"/>
            </a:lvl3pPr>
            <a:lvl4pPr marL="283210" indent="-283210">
              <a:spcBef>
                <a:spcPts val="1000"/>
              </a:spcBef>
              <a:defRPr sz="1800"/>
            </a:lvl4pPr>
            <a:lvl5pPr marL="283210"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5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210" indent="-283210">
              <a:spcBef>
                <a:spcPts val="1000"/>
              </a:spcBef>
              <a:defRPr sz="1800"/>
            </a:lvl2pPr>
            <a:lvl3pPr marL="283210" indent="-283210">
              <a:spcBef>
                <a:spcPts val="1000"/>
              </a:spcBef>
              <a:defRPr sz="1800"/>
            </a:lvl3pPr>
            <a:lvl4pPr marL="283210" indent="-283210">
              <a:spcBef>
                <a:spcPts val="1000"/>
              </a:spcBef>
              <a:defRPr sz="1800"/>
            </a:lvl4pPr>
            <a:lvl5pPr marL="283210"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490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690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890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210">
              <a:spcBef>
                <a:spcPts val="1000"/>
              </a:spcBef>
              <a:defRPr sz="1800"/>
            </a:lvl2pPr>
            <a:lvl3pPr indent="-283210">
              <a:spcBef>
                <a:spcPts val="1000"/>
              </a:spcBef>
              <a:defRPr sz="1800"/>
            </a:lvl3pPr>
            <a:lvl4pPr indent="-283210">
              <a:spcBef>
                <a:spcPts val="1000"/>
              </a:spcBef>
              <a:defRPr sz="1800"/>
            </a:lvl4pPr>
            <a:lvl5pPr indent="-28321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  <a:endParaRPr lang="en-US" dirty="0"/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/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/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/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/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/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/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345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/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/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Text Placeholder 54"/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>
            <a:fillRect/>
          </a:stretch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9" name="Freeform 48"/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43" name="Graphic 4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>
            <a:fillRect/>
          </a:stretch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>
            <a:fillRect/>
          </a:stretch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/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4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5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491490" y="1628775"/>
            <a:ext cx="11545570" cy="199771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ts val="4875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Network Attack Detection Using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TCN–BiLSTM–Transformer Framework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4628" y="3944446"/>
            <a:ext cx="12192000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altLang="en-US" sz="2000" dirty="0">
                <a:latin typeface="+mj-lt"/>
                <a:cs typeface="Arial" panose="020B0604020202020204" pitchFamily="34" charset="0"/>
              </a:rPr>
              <a:t>Duggempudi Anji Reddy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2471A1262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dirty="0">
                <a:latin typeface="+mj-lt"/>
                <a:cs typeface="Arial" panose="020B0604020202020204" pitchFamily="34" charset="0"/>
              </a:rPr>
              <a:t>Dasari Sri Saran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    </a:t>
            </a:r>
            <a:r>
              <a:rPr lang="en-IN" altLang="en-US" sz="2000" dirty="0">
                <a:latin typeface="+mj-lt"/>
                <a:cs typeface="Arial" panose="020B0604020202020204" pitchFamily="34" charset="0"/>
              </a:rPr>
              <a:t>             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22471A12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altLang="en-US" sz="2000" dirty="0">
                <a:latin typeface="+mj-lt"/>
                <a:cs typeface="Arial" panose="020B0604020202020204" pitchFamily="34" charset="0"/>
              </a:rPr>
              <a:t>Mekala Karthik                  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(22471A12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05249" y="1134186"/>
            <a:ext cx="9221745" cy="4931651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Problem Statement</a:t>
            </a:r>
            <a:endParaRPr lang="en-US" sz="28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Rapid growth of cyberattacks in modern networks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Traditional IDS fail to detect:</a:t>
            </a:r>
            <a:endParaRPr lang="en-US" alt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attacks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Low-frequency attacks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Challenges:</a:t>
            </a:r>
            <a:endParaRPr lang="en-US" alt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Imbalanced datasets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High-dimensional data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traffic patterns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Need for an intelligent and adaptive intrusion detection system</a:t>
            </a:r>
            <a:endParaRPr lang="en-US" altLang="en-US" dirty="0"/>
          </a:p>
          <a:p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317625" y="541655"/>
            <a:ext cx="9956800" cy="5873750"/>
          </a:xfrm>
        </p:spPr>
        <p:txBody>
          <a:bodyPr>
            <a:normAutofit fontScale="50000"/>
          </a:bodyPr>
          <a:lstStyle/>
          <a:p>
            <a:r>
              <a:rPr lang="en-IN" altLang="en-US" sz="3025" b="1" dirty="0"/>
              <a:t> </a:t>
            </a:r>
            <a:r>
              <a:rPr lang="en-IN" altLang="en-US" sz="5000" b="1" dirty="0"/>
              <a:t>  </a:t>
            </a:r>
            <a:r>
              <a:rPr lang="en-US" sz="7000" b="1" dirty="0"/>
              <a:t>Objectives</a:t>
            </a:r>
            <a:endParaRPr lang="en-US" sz="7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5000" dirty="0"/>
              <a:t>Develop an advanced intrusion detection model</a:t>
            </a:r>
            <a:endParaRPr lang="en-US" altLang="en-US" sz="5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5000" dirty="0"/>
              <a:t>Combine:</a:t>
            </a:r>
            <a:endParaRPr lang="en-US" altLang="en-US" sz="50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TCN (Temporal patterns)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BiLSTM (Sequential learning)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(Global dependencies)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5000" dirty="0"/>
              <a:t>Improve:</a:t>
            </a:r>
            <a:endParaRPr lang="en-US" altLang="en-US" sz="50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5000" dirty="0"/>
              <a:t>Detect both common and rare attacks effectively</a:t>
            </a:r>
            <a:endParaRPr lang="en-US" altLang="en-US" sz="5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10619105" y="37801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150620" y="574675"/>
            <a:ext cx="10095865" cy="5630545"/>
          </a:xfrm>
        </p:spPr>
        <p:txBody>
          <a:bodyPr>
            <a:normAutofit fontScale="60000"/>
          </a:bodyPr>
          <a:lstStyle/>
          <a:p>
            <a:r>
              <a:rPr lang="en-US" sz="4000" b="1" dirty="0"/>
              <a:t>Dataset Description</a:t>
            </a:r>
            <a:endParaRPr lang="en-US" sz="4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430" dirty="0">
                <a:solidFill>
                  <a:srgbClr val="FF0000"/>
                </a:solidFill>
              </a:rPr>
              <a:t>Datasets used:</a:t>
            </a:r>
            <a:endParaRPr lang="en-US" alt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NSL-KDD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UNSW-NB15</a:t>
            </a:r>
            <a:endParaRPr lang="en-US" altLang="en-US" sz="3335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430" dirty="0">
                <a:solidFill>
                  <a:srgbClr val="FF0000"/>
                </a:solidFill>
              </a:rPr>
              <a:t>Contains:</a:t>
            </a:r>
            <a:endParaRPr lang="en-US" altLang="en-US" sz="3430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and attack traffic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430" dirty="0">
                <a:solidFill>
                  <a:srgbClr val="FF0000"/>
                </a:solidFill>
              </a:rPr>
              <a:t>Features include:</a:t>
            </a:r>
            <a:endParaRPr lang="en-US" altLang="en-US" sz="3430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behavior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 information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3430" dirty="0">
                <a:solidFill>
                  <a:srgbClr val="FF0000"/>
                </a:solidFill>
              </a:rPr>
              <a:t>Data split:</a:t>
            </a:r>
            <a:endParaRPr lang="en-US" altLang="en-US" sz="3430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Training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sz="33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Testing</a:t>
            </a:r>
            <a:endParaRPr lang="en-US" altLang="en-US" sz="3335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209675" y="585470"/>
            <a:ext cx="5583555" cy="5944870"/>
          </a:xfrm>
        </p:spPr>
        <p:txBody>
          <a:bodyPr>
            <a:normAutofit lnSpcReduction="10000"/>
          </a:bodyPr>
          <a:lstStyle/>
          <a:p>
            <a:r>
              <a:rPr lang="en-US" sz="2595" b="1" dirty="0"/>
              <a:t>Data Preprocessing</a:t>
            </a:r>
            <a:endParaRPr lang="en-US" sz="2595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Missing value handling using mode imputation.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Handling missing values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using Min-Max scaling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Categorical encoding:</a:t>
            </a:r>
            <a:endParaRPr lang="en-US" alt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One-Hot Encoding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Feature selection:</a:t>
            </a:r>
            <a:endParaRPr lang="en-US" alt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BRFE (Boosted Recursive Feature Elimination)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Class imbalance handled using:</a:t>
            </a:r>
            <a:endParaRPr lang="en-US" alt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SMOTE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  <p:pic>
        <p:nvPicPr>
          <p:cNvPr id="5" name="Picture 4" descr="C:/Users/Prasa/OneDrive/Pictures/Screenshots/Screenshot 2026-04-10 204152.pngScreenshot 2026-04-10 204152"/>
          <p:cNvPicPr>
            <a:picLocks noChangeAspect="1"/>
          </p:cNvPicPr>
          <p:nvPr/>
        </p:nvPicPr>
        <p:blipFill>
          <a:blip r:embed="rId1"/>
          <a:srcRect t="4806" b="4806"/>
          <a:stretch>
            <a:fillRect/>
          </a:stretch>
        </p:blipFill>
        <p:spPr>
          <a:xfrm>
            <a:off x="6747510" y="1891030"/>
            <a:ext cx="5078730" cy="3023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24000" y="795020"/>
            <a:ext cx="10123170" cy="5639435"/>
          </a:xfrm>
        </p:spPr>
        <p:txBody>
          <a:bodyPr>
            <a:normAutofit fontScale="80000"/>
          </a:bodyPr>
          <a:p>
            <a:endParaRPr lang="en-US" b="1" dirty="0">
              <a:sym typeface="+mn-ea"/>
            </a:endParaRPr>
          </a:p>
          <a:p>
            <a:endParaRPr lang="en-US" b="1" dirty="0">
              <a:sym typeface="+mn-ea"/>
            </a:endParaRPr>
          </a:p>
          <a:p>
            <a:endParaRPr lang="en-US" b="1" dirty="0">
              <a:sym typeface="+mn-ea"/>
            </a:endParaRPr>
          </a:p>
          <a:p>
            <a:r>
              <a:rPr lang="en-US" sz="4000" b="1" dirty="0">
                <a:sym typeface="+mn-ea"/>
              </a:rPr>
              <a:t>Model Architecture</a:t>
            </a:r>
            <a:endParaRPr lang="en-US" sz="4000" b="1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The system processes network traffic through preprocessing and feature extraction to prepare </a:t>
            </a:r>
            <a:r>
              <a:rPr lang="en-IN" altLang="en-US"/>
              <a:t> </a:t>
            </a:r>
            <a:r>
              <a:rPr lang="en-US" altLang="en-US"/>
              <a:t>clean and structured input data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 TCN and BiLSTM modules capture both short-term and long-term temporal patterns in network behavior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/>
              <a:t> Feature fusion combines outputs from multiple models to improve representation and learning capability.Transformer encoder applies attention mechanism to capture global dependencies, leading to accurate classification of normal and attack traffic.</a:t>
            </a:r>
            <a:endParaRPr lang="en-US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  <a:p>
            <a:endParaRPr lang="en-I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C7D9C8F7-B9C9-4A6D-B783-DEA6E6070D58}" type="slidenum">
              <a:rPr lang="en-US" smtClean="0"/>
            </a:fld>
            <a:endParaRPr lang="en-US" dirty="0"/>
          </a:p>
        </p:txBody>
      </p:sp>
      <p:pic>
        <p:nvPicPr>
          <p:cNvPr id="4" name="Picture 3" descr="ChatGPT Image Apr 10, 2026, 08_57_4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435" y="4107815"/>
            <a:ext cx="9410065" cy="230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991995" y="334645"/>
            <a:ext cx="9403715" cy="5925185"/>
          </a:xfrm>
        </p:spPr>
        <p:txBody>
          <a:bodyPr>
            <a:normAutofit/>
          </a:bodyPr>
          <a:lstStyle/>
          <a:p>
            <a:r>
              <a:rPr lang="en-US" sz="2800" b="1" dirty="0"/>
              <a:t>Training &amp; Optimization</a:t>
            </a:r>
            <a:endParaRPr lang="en-US" sz="2800" b="1" dirty="0"/>
          </a:p>
          <a:p>
            <a:pPr algn="l">
              <a:buFont typeface="Arial" panose="020B0604020202020204" pitchFamily="34" charset="0"/>
            </a:pP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Optimizer: Adam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Learning rate: 0.001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Techniques used: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Dropout (prevent overfitting)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Early stopping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Validation monitoring</a:t>
            </a:r>
            <a:endParaRPr lang="en-US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Balanced learning using SMOTE</a:t>
            </a:r>
            <a:endParaRPr lang="en-US" alt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346835" y="824865"/>
            <a:ext cx="6275705" cy="5424170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/>
              <a:t>The graph compares the performance of multiple models (Random Forest, CNN, CNN-LSTM, CNN-BiLSTM, and TBT) using Accuracy, Precision, and F1-score metrics.</a:t>
            </a:r>
            <a:endParaRPr lang="en-US" alt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/>
              <a:t>The proposed TBT model achieves the highest overall performance, with values very close to 1.0 across all evaluation metrics.</a:t>
            </a:r>
            <a:endParaRPr lang="en-US" altLang="en-US" dirty="0"/>
          </a:p>
          <a:p>
            <a:pPr algn="just">
              <a:buFont typeface="Arial" panose="020B0604020202020204" pitchFamily="34" charset="0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  <p:pic>
        <p:nvPicPr>
          <p:cNvPr id="4" name="Picture 3" descr="Screenshot 2026-04-10 2042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015" y="1258570"/>
            <a:ext cx="4159885" cy="46240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451100" y="1046480"/>
            <a:ext cx="49441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Performance Result</a:t>
            </a:r>
            <a:r>
              <a:rPr lang="en-I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</a:t>
            </a:r>
            <a:endParaRPr lang="en-IN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043305" y="815975"/>
            <a:ext cx="10497820" cy="5067300"/>
          </a:xfrm>
        </p:spPr>
        <p:txBody>
          <a:bodyPr>
            <a:normAutofit/>
          </a:bodyPr>
          <a:lstStyle/>
          <a:p>
            <a:r>
              <a:rPr lang="en-US" sz="2800" b="1" dirty="0"/>
              <a:t>Ablation Study &amp; Error Analysis</a:t>
            </a:r>
            <a:endParaRPr lang="en-US" sz="28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Ablation Study Findings:</a:t>
            </a:r>
            <a:endParaRPr lang="en-US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With</a:t>
            </a:r>
            <a:r>
              <a:rPr lang="en-IN" altLang="en-US" dirty="0">
                <a:solidFill>
                  <a:srgbClr val="FF0000"/>
                </a:solidFill>
              </a:rPr>
              <a:t>out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IN" altLang="en-US" dirty="0">
                <a:solidFill>
                  <a:srgbClr val="FF0000"/>
                </a:solidFill>
              </a:rPr>
              <a:t> TCN</a:t>
            </a:r>
            <a:r>
              <a:rPr lang="en-US" dirty="0">
                <a:solidFill>
                  <a:srgbClr val="FF0000"/>
                </a:solidFill>
              </a:rPr>
              <a:t> → 9</a:t>
            </a:r>
            <a:r>
              <a:rPr lang="en-IN" altLang="en-US" dirty="0">
                <a:solidFill>
                  <a:srgbClr val="FF0000"/>
                </a:solidFill>
              </a:rPr>
              <a:t>4.2</a:t>
            </a:r>
            <a:r>
              <a:rPr lang="en-US" dirty="0">
                <a:solidFill>
                  <a:srgbClr val="FF0000"/>
                </a:solidFill>
              </a:rPr>
              <a:t>% accuracy</a:t>
            </a:r>
            <a:endParaRPr 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Without </a:t>
            </a:r>
            <a:r>
              <a:rPr lang="en-IN" altLang="en-US" dirty="0">
                <a:solidFill>
                  <a:srgbClr val="FF0000"/>
                </a:solidFill>
              </a:rPr>
              <a:t> BiLSTM</a:t>
            </a:r>
            <a:r>
              <a:rPr lang="en-US" dirty="0">
                <a:solidFill>
                  <a:srgbClr val="FF0000"/>
                </a:solidFill>
              </a:rPr>
              <a:t> → </a:t>
            </a:r>
            <a:r>
              <a:rPr lang="en-IN" altLang="en-US" dirty="0">
                <a:solidFill>
                  <a:srgbClr val="FF0000"/>
                </a:solidFill>
              </a:rPr>
              <a:t>95.1</a:t>
            </a:r>
            <a:r>
              <a:rPr lang="en-US" dirty="0">
                <a:solidFill>
                  <a:srgbClr val="FF0000"/>
                </a:solidFill>
              </a:rPr>
              <a:t>% accuracy</a:t>
            </a:r>
            <a:endParaRPr 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srgbClr val="FF0000"/>
                </a:solidFill>
              </a:rPr>
              <a:t>Without Transformer</a:t>
            </a:r>
            <a:r>
              <a:rPr lang="en-US" dirty="0">
                <a:solidFill>
                  <a:srgbClr val="FF0000"/>
                </a:solidFill>
              </a:rPr>
              <a:t> → </a:t>
            </a:r>
            <a:r>
              <a:rPr lang="en-IN" altLang="en-US" dirty="0">
                <a:solidFill>
                  <a:srgbClr val="FF0000"/>
                </a:solidFill>
              </a:rPr>
              <a:t>95.8</a:t>
            </a:r>
            <a:r>
              <a:rPr lang="en-US" dirty="0">
                <a:solidFill>
                  <a:srgbClr val="FF0000"/>
                </a:solidFill>
              </a:rPr>
              <a:t>% accuracy</a:t>
            </a:r>
            <a:endParaRPr 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srgbClr val="FF0000"/>
                </a:solidFill>
              </a:rPr>
              <a:t>Without Attention</a:t>
            </a:r>
            <a:r>
              <a:rPr lang="en-US" dirty="0">
                <a:solidFill>
                  <a:srgbClr val="FF0000"/>
                </a:solidFill>
              </a:rPr>
              <a:t> → 9</a:t>
            </a:r>
            <a:r>
              <a:rPr lang="en-IN" altLang="en-US" dirty="0">
                <a:solidFill>
                  <a:srgbClr val="FF0000"/>
                </a:solidFill>
              </a:rPr>
              <a:t>6.3</a:t>
            </a:r>
            <a:r>
              <a:rPr lang="en-US" dirty="0">
                <a:solidFill>
                  <a:srgbClr val="FF0000"/>
                </a:solidFill>
              </a:rPr>
              <a:t>% accuracy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Error Analysis:</a:t>
            </a:r>
            <a:endParaRPr lang="en-US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Misclassification occurs mainly due to similar patterns between normal and attack traffic</a:t>
            </a:r>
            <a:endParaRPr lang="en-US" alt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Rare and low-frequency attacks are often incorrectly predicted due to limited samples</a:t>
            </a:r>
            <a:endParaRPr lang="en-US" altLang="en-US" dirty="0">
              <a:solidFill>
                <a:srgbClr val="FF0000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Class imbalance and feature overlap reduce the model’s ability to generalize effectively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034473" y="1160206"/>
            <a:ext cx="1050629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sz="3000" b="1" dirty="0"/>
              <a:t>Conclusion &amp; Future Work</a:t>
            </a:r>
            <a:endParaRPr lang="en-US" sz="3000" b="1" dirty="0"/>
          </a:p>
          <a:p>
            <a:r>
              <a:rPr lang="en-US" b="1" dirty="0"/>
              <a:t>Conclusion</a:t>
            </a:r>
            <a:endParaRPr lang="en-US" b="1" dirty="0"/>
          </a:p>
          <a:p>
            <a:r>
              <a:rPr lang="en-US" altLang="en-US" dirty="0"/>
              <a:t>The proposed TCN–BiLSTM–Transformer model significantly improves intrusion detection accuracy and reliability.</a:t>
            </a:r>
            <a:endParaRPr lang="en-US" altLang="en-US" dirty="0"/>
          </a:p>
          <a:p>
            <a:r>
              <a:rPr lang="en-US" altLang="en-US" dirty="0"/>
              <a:t>It effectively captures temporal and global patterns, enabling detection of both common and rare cyberattacks.</a:t>
            </a:r>
            <a:endParaRPr lang="en-US" altLang="en-US" dirty="0"/>
          </a:p>
          <a:p>
            <a:r>
              <a:rPr lang="en-US" b="1" dirty="0"/>
              <a:t>Future Work</a:t>
            </a:r>
            <a:endParaRPr lang="en-US" b="1" dirty="0"/>
          </a:p>
          <a:p>
            <a:r>
              <a:rPr lang="en-US" altLang="en-US" dirty="0"/>
              <a:t>Extend to multi-class classification (DoS, Probe, R2L, U2R)</a:t>
            </a:r>
            <a:endParaRPr lang="en-US" altLang="en-US" dirty="0"/>
          </a:p>
          <a:p>
            <a:r>
              <a:rPr lang="en-US" altLang="en-US" dirty="0"/>
              <a:t>Implement federated learning for privacy-preserving IDS</a:t>
            </a:r>
            <a:endParaRPr lang="en-US" altLang="en-US" dirty="0"/>
          </a:p>
          <a:p>
            <a:r>
              <a:rPr lang="en-US" altLang="en-US" dirty="0"/>
              <a:t>Optimize model for edge devices (IoT, routers)</a:t>
            </a:r>
            <a:endParaRPr lang="en-US" altLang="en-US" dirty="0"/>
          </a:p>
          <a:p>
            <a:r>
              <a:rPr lang="en-US" altLang="en-US" dirty="0"/>
              <a:t>Integrate real-time traffic monitoring systems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D9C8F7-B9C9-4A6D-B783-DEA6E6070D5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thank you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005781" y="1152748"/>
            <a:ext cx="9429135" cy="45525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jpeg"/></Relationships>
</file>

<file path=ppt/theme/theme1.xml><?xml version="1.0" encoding="utf-8"?>
<a:theme xmlns:a="http://schemas.openxmlformats.org/drawingml/2006/main" name="Parallax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5.xml><?xml version="1.0" encoding="utf-8"?>
<ds:datastoreItem xmlns:ds="http://schemas.openxmlformats.org/officeDocument/2006/customXml" ds:itemID="{BA719FA4-954C-4FA8-82CB-206659C3B826}">
  <ds:schemaRefs/>
</ds:datastoreItem>
</file>

<file path=customXml/itemProps6.xml><?xml version="1.0" encoding="utf-8"?>
<ds:datastoreItem xmlns:ds="http://schemas.openxmlformats.org/officeDocument/2006/customXml" ds:itemID="{16DBB56F-4362-4386-A1A1-3DF898896616}">
  <ds:schemaRefs/>
</ds:datastoreItem>
</file>

<file path=customXml/itemProps7.xml><?xml version="1.0" encoding="utf-8"?>
<ds:datastoreItem xmlns:ds="http://schemas.openxmlformats.org/officeDocument/2006/customXml" ds:itemID="{04948363-B267-4BAC-8655-100FBEC280C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0</TotalTime>
  <Words>3022</Words>
  <Application>WPS Presentation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Corbel</vt:lpstr>
      <vt:lpstr>Arial Unicode MS</vt:lpstr>
      <vt:lpstr>Calibri</vt:lpstr>
      <vt:lpstr>Microsoft YaHei</vt:lpstr>
      <vt:lpstr>Parallax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Sasidharsai Kattula</dc:creator>
  <cp:lastModifiedBy>pavitra U</cp:lastModifiedBy>
  <cp:revision>26</cp:revision>
  <dcterms:created xsi:type="dcterms:W3CDTF">2026-04-06T14:05:00Z</dcterms:created>
  <dcterms:modified xsi:type="dcterms:W3CDTF">2026-04-10T15:56:43Z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F98DAE6861E6469594954D99E95F674A_13</vt:lpwstr>
  </property>
  <property fmtid="{D5CDD505-2E9C-101B-9397-08002B2CF9AE}" pid="4" name="KSOProductBuildVer">
    <vt:lpwstr>1033-12.2.0.23196</vt:lpwstr>
  </property>
</Properties>
</file>